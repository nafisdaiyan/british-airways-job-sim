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334"/>
                </a:solidFill>
                <a:latin typeface="Aptos"/>
              </a:defRPr>
            </a:pPr>
            <a:r>
              <a:t>Customer Booking Prediction — Model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6"/>
                </a:solidFill>
                <a:latin typeface="Aptos"/>
              </a:defRPr>
            </a:pPr>
            <a:r>
              <a:t>CatBoost classifier | 5-fold stratified cross-validation | Class weighting: 1:5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244144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C6776"/>
                </a:solidFill>
              </a:defRPr>
            </a:pPr>
            <a:r>
              <a:t>ROC-AUC</a:t>
            </a:r>
          </a:p>
          <a:p>
            <a:pPr>
              <a:defRPr sz="2000" b="1">
                <a:solidFill>
                  <a:srgbClr val="182334"/>
                </a:solidFill>
              </a:defRPr>
            </a:pPr>
            <a:r>
              <a:t>0.799 ± 0.003</a:t>
            </a:r>
          </a:p>
          <a:p>
            <a:pPr>
              <a:defRPr sz="800">
                <a:solidFill>
                  <a:srgbClr val="69727E"/>
                </a:solidFill>
              </a:defRPr>
            </a:pPr>
            <a:r>
              <a:t>Useful predictive discrimination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234440"/>
            <a:ext cx="244144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C6776"/>
                </a:solidFill>
              </a:defRPr>
            </a:pPr>
            <a:r>
              <a:t>Recall</a:t>
            </a:r>
          </a:p>
          <a:p>
            <a:pPr>
              <a:defRPr sz="2000" b="1">
                <a:solidFill>
                  <a:srgbClr val="182334"/>
                </a:solidFill>
              </a:defRPr>
            </a:pPr>
            <a:r>
              <a:t>72.8% ± 0.9%</a:t>
            </a:r>
          </a:p>
          <a:p>
            <a:pPr>
              <a:defRPr sz="800">
                <a:solidFill>
                  <a:srgbClr val="69727E"/>
                </a:solidFill>
              </a:defRPr>
            </a:pPr>
            <a:r>
              <a:t>Catches ~3 in 4 actual bookers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234440"/>
            <a:ext cx="244144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C6776"/>
                </a:solidFill>
              </a:defRPr>
            </a:pPr>
            <a:r>
              <a:t>Precision</a:t>
            </a:r>
          </a:p>
          <a:p>
            <a:pPr>
              <a:defRPr sz="2000" b="1">
                <a:solidFill>
                  <a:srgbClr val="182334"/>
                </a:solidFill>
              </a:defRPr>
            </a:pPr>
            <a:r>
              <a:t>32.0% ± 0.4%</a:t>
            </a:r>
          </a:p>
          <a:p>
            <a:pPr>
              <a:defRPr sz="800">
                <a:solidFill>
                  <a:srgbClr val="69727E"/>
                </a:solidFill>
              </a:defRPr>
            </a:pPr>
            <a:r>
              <a:t>Trade-off from prioritising 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26296" y="1234440"/>
            <a:ext cx="244144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C6776"/>
                </a:solidFill>
              </a:defRPr>
            </a:pPr>
            <a:r>
              <a:t>F1</a:t>
            </a:r>
          </a:p>
          <a:p>
            <a:pPr>
              <a:defRPr sz="2000" b="1">
                <a:solidFill>
                  <a:srgbClr val="182334"/>
                </a:solidFill>
              </a:defRPr>
            </a:pPr>
            <a:r>
              <a:t>0.444 ± 0.004</a:t>
            </a:r>
          </a:p>
          <a:p>
            <a:pPr>
              <a:defRPr sz="800">
                <a:solidFill>
                  <a:srgbClr val="69727E"/>
                </a:solidFill>
              </a:defRPr>
            </a:pPr>
            <a:r>
              <a:t>Precision/recall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450592"/>
            <a:ext cx="391363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228600" rtlCol="0" anchor="t"/>
          <a:lstStyle/>
          <a:p>
            <a:pPr algn="ctr">
              <a:defRPr sz="1700" b="1">
                <a:solidFill>
                  <a:srgbClr val="182334"/>
                </a:solidFill>
              </a:defRPr>
            </a:pPr>
            <a:r>
              <a:rPr dirty="0"/>
              <a:t>Key findings</a:t>
            </a:r>
          </a:p>
          <a:p>
            <a:pPr>
              <a:spcBef>
                <a:spcPts val="900"/>
              </a:spcBef>
              <a:defRPr sz="1100" b="1">
                <a:solidFill>
                  <a:srgbClr val="305D91"/>
                </a:solidFill>
              </a:defRPr>
            </a:pPr>
            <a:r>
              <a:rPr dirty="0"/>
              <a:t>Top drivers</a:t>
            </a:r>
          </a:p>
          <a:p>
            <a:pPr>
              <a:spcAft>
                <a:spcPts val="200"/>
              </a:spcAft>
              <a:defRPr sz="950">
                <a:solidFill>
                  <a:srgbClr val="464F5B"/>
                </a:solidFill>
              </a:defRPr>
            </a:pPr>
            <a:r>
              <a:rPr dirty="0"/>
              <a:t>Booking origin and route dominate predictive power, together accounting for ~45% of feature importance.</a:t>
            </a:r>
          </a:p>
          <a:p>
            <a:pPr>
              <a:spcBef>
                <a:spcPts val="900"/>
              </a:spcBef>
              <a:defRPr sz="1100" b="1">
                <a:solidFill>
                  <a:srgbClr val="305D91"/>
                </a:solidFill>
              </a:defRPr>
            </a:pPr>
            <a:r>
              <a:rPr dirty="0"/>
              <a:t>Customer </a:t>
            </a:r>
            <a:r>
              <a:rPr dirty="0" err="1"/>
              <a:t>behaviour</a:t>
            </a:r>
            <a:endParaRPr dirty="0"/>
          </a:p>
          <a:p>
            <a:pPr>
              <a:spcAft>
                <a:spcPts val="200"/>
              </a:spcAft>
              <a:defRPr sz="950">
                <a:solidFill>
                  <a:srgbClr val="464F5B"/>
                </a:solidFill>
              </a:defRPr>
            </a:pPr>
            <a:r>
              <a:rPr dirty="0"/>
              <a:t>Length of stay and </a:t>
            </a:r>
            <a:r>
              <a:rPr lang="en-US" dirty="0"/>
              <a:t>flight duration </a:t>
            </a:r>
            <a:r>
              <a:rPr dirty="0"/>
              <a:t>are the strongest numerical predictors.</a:t>
            </a:r>
          </a:p>
          <a:p>
            <a:pPr>
              <a:spcBef>
                <a:spcPts val="900"/>
              </a:spcBef>
              <a:defRPr sz="1100" b="1">
                <a:solidFill>
                  <a:srgbClr val="305D91"/>
                </a:solidFill>
              </a:defRPr>
            </a:pPr>
            <a:r>
              <a:rPr dirty="0"/>
              <a:t>Business objective</a:t>
            </a:r>
          </a:p>
          <a:p>
            <a:pPr>
              <a:spcAft>
                <a:spcPts val="200"/>
              </a:spcAft>
              <a:defRPr sz="950">
                <a:solidFill>
                  <a:srgbClr val="464F5B"/>
                </a:solidFill>
              </a:defRPr>
            </a:pPr>
            <a:r>
              <a:rPr dirty="0"/>
              <a:t>1:5 class weighting </a:t>
            </a:r>
            <a:r>
              <a:rPr dirty="0" err="1"/>
              <a:t>prioritises</a:t>
            </a:r>
            <a:r>
              <a:rPr dirty="0"/>
              <a:t> completed bookings and reduces costly false negatives.</a:t>
            </a:r>
          </a:p>
          <a:p>
            <a:pPr>
              <a:spcBef>
                <a:spcPts val="900"/>
              </a:spcBef>
              <a:defRPr sz="1100" b="1">
                <a:solidFill>
                  <a:srgbClr val="305D91"/>
                </a:solidFill>
              </a:defRPr>
            </a:pPr>
            <a:r>
              <a:rPr dirty="0"/>
              <a:t>Model stability</a:t>
            </a:r>
          </a:p>
          <a:p>
            <a:pPr>
              <a:spcAft>
                <a:spcPts val="200"/>
              </a:spcAft>
              <a:defRPr sz="950">
                <a:solidFill>
                  <a:srgbClr val="464F5B"/>
                </a:solidFill>
              </a:defRPr>
            </a:pPr>
            <a:r>
              <a:rPr dirty="0"/>
              <a:t>Very small CV standard deviations indicate consistent performance across folds.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579956"/>
            <a:ext cx="34506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82334"/>
                </a:solidFill>
              </a:defRPr>
            </a:pPr>
            <a:r>
              <a:rPr lang="en-US" dirty="0"/>
              <a:t>Recommendation: target likely bookers proactively, accepting some false positives to avoid missed sales opportunities.</a:t>
            </a:r>
          </a:p>
          <a:p>
            <a:pPr>
              <a:defRPr sz="900" b="1">
                <a:solidFill>
                  <a:srgbClr val="182334"/>
                </a:solidFill>
              </a:defRPr>
            </a:pP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EC8C78-6BB9-D218-0D68-464D2997E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34126"/>
            <a:ext cx="6340793" cy="41038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135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Daiyan</cp:lastModifiedBy>
  <cp:revision>3</cp:revision>
  <dcterms:created xsi:type="dcterms:W3CDTF">2013-01-27T09:14:16Z</dcterms:created>
  <dcterms:modified xsi:type="dcterms:W3CDTF">2026-08-13T15:19:11Z</dcterms:modified>
  <cp:category/>
</cp:coreProperties>
</file>